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371CBF-1955-49F6-9496-1947EF02CD99}" v="1" dt="2026-04-21T09:38:42.2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Matjiane" userId="0265c41a-c8b3-449d-a4e1-63e1e13b2bda" providerId="ADAL" clId="{1E4DA24B-2362-4CCC-8C72-8B83B51FA9D2}"/>
    <pc:docChg chg="modSld">
      <pc:chgData name="David Matjiane" userId="0265c41a-c8b3-449d-a4e1-63e1e13b2bda" providerId="ADAL" clId="{1E4DA24B-2362-4CCC-8C72-8B83B51FA9D2}" dt="2026-04-21T09:38:42.255" v="5"/>
      <pc:docMkLst>
        <pc:docMk/>
      </pc:docMkLst>
      <pc:sldChg chg="delSp modSp mod">
        <pc:chgData name="David Matjiane" userId="0265c41a-c8b3-449d-a4e1-63e1e13b2bda" providerId="ADAL" clId="{1E4DA24B-2362-4CCC-8C72-8B83B51FA9D2}" dt="2026-04-21T09:38:42.255" v="5"/>
        <pc:sldMkLst>
          <pc:docMk/>
          <pc:sldMk cId="0" sldId="265"/>
        </pc:sldMkLst>
        <pc:spChg chg="mod">
          <ac:chgData name="David Matjiane" userId="0265c41a-c8b3-449d-a4e1-63e1e13b2bda" providerId="ADAL" clId="{1E4DA24B-2362-4CCC-8C72-8B83B51FA9D2}" dt="2026-04-21T09:38:42.255" v="5"/>
          <ac:spMkLst>
            <pc:docMk/>
            <pc:sldMk cId="0" sldId="265"/>
            <ac:spMk id="6" creationId="{00000000-0000-0000-0000-000000000000}"/>
          </ac:spMkLst>
        </pc:spChg>
        <pc:spChg chg="del mod">
          <ac:chgData name="David Matjiane" userId="0265c41a-c8b3-449d-a4e1-63e1e13b2bda" providerId="ADAL" clId="{1E4DA24B-2362-4CCC-8C72-8B83B51FA9D2}" dt="2026-04-21T09:38:30.946" v="4"/>
          <ac:spMkLst>
            <pc:docMk/>
            <pc:sldMk cId="0" sldId="265"/>
            <ac:spMk id="13" creationId="{C94F8643-64C1-52D5-E5CB-701732FACED2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Viewers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Supersport Live Events</c:v>
                </c:pt>
                <c:pt idx="1">
                  <c:v>ICC Cricket World Cup 2011</c:v>
                </c:pt>
                <c:pt idx="2">
                  <c:v>Channel O</c:v>
                </c:pt>
                <c:pt idx="3">
                  <c:v>Trace TV</c:v>
                </c:pt>
                <c:pt idx="4">
                  <c:v>SuperSport Blitz</c:v>
                </c:pt>
                <c:pt idx="5">
                  <c:v>Africa Magic</c:v>
                </c:pt>
                <c:pt idx="6">
                  <c:v>Cartoon Network</c:v>
                </c:pt>
                <c:pt idx="7">
                  <c:v>Boomerang</c:v>
                </c:pt>
                <c:pt idx="8">
                  <c:v>CNN</c:v>
                </c:pt>
                <c:pt idx="9">
                  <c:v>E! Entertainment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1638</c:v>
                </c:pt>
                <c:pt idx="1">
                  <c:v>1465</c:v>
                </c:pt>
                <c:pt idx="2">
                  <c:v>1050</c:v>
                </c:pt>
                <c:pt idx="3">
                  <c:v>952</c:v>
                </c:pt>
                <c:pt idx="4">
                  <c:v>896</c:v>
                </c:pt>
                <c:pt idx="5">
                  <c:v>859</c:v>
                </c:pt>
                <c:pt idx="6">
                  <c:v>793</c:v>
                </c:pt>
                <c:pt idx="7">
                  <c:v>714</c:v>
                </c:pt>
                <c:pt idx="8">
                  <c:v>505</c:v>
                </c:pt>
                <c:pt idx="9">
                  <c:v>367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A9-4049-8C4F-51794BB5402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Viewers</c:v>
                </c:pt>
              </c:strCache>
            </c:strRef>
          </c:tx>
          <c:spPr>
            <a:ln w="50800" cap="flat">
              <a:solidFill>
                <a:srgbClr val="F96167"/>
              </a:solidFill>
              <a:prstDash val="solid"/>
              <a:round/>
            </a:ln>
            <a:effectLst/>
          </c:spPr>
          <c:marker>
            <c:symbol val="circle"/>
            <c:size val="12"/>
            <c:spPr>
              <a:solidFill>
                <a:srgbClr val="F96167"/>
              </a:solidFill>
              <a:ln w="9525" cap="flat">
                <a:solidFill>
                  <a:srgbClr val="F96167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2199</c:v>
                </c:pt>
                <c:pt idx="1">
                  <c:v>2980</c:v>
                </c:pt>
                <c:pt idx="2">
                  <c:v>4816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90-4289-BE72-CD028568DA6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Viewers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206-425A-AD8C-6A3A99721DC9}"/>
              </c:ext>
            </c:extLst>
          </c:dPt>
          <c:dPt>
            <c:idx val="1"/>
            <c:invertIfNegative val="0"/>
            <c:bubble3D val="0"/>
            <c:spPr>
              <a:solidFill>
                <a:srgbClr val="F9E79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206-425A-AD8C-6A3A99721DC9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0206-425A-AD8C-6A3A99721DC9}"/>
              </c:ext>
            </c:extLst>
          </c:dPt>
          <c:dPt>
            <c:idx val="3"/>
            <c:invertIfNegative val="0"/>
            <c:bubble3D val="0"/>
            <c:spPr>
              <a:solidFill>
                <a:srgbClr val="F9E79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206-425A-AD8C-6A3A99721DC9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0206-425A-AD8C-6A3A99721DC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1.Early Morning</c:v>
                </c:pt>
                <c:pt idx="1">
                  <c:v>2.Morning</c:v>
                </c:pt>
                <c:pt idx="2">
                  <c:v>3.Afternoon</c:v>
                </c:pt>
                <c:pt idx="3">
                  <c:v>4.Evening</c:v>
                </c:pt>
                <c:pt idx="4">
                  <c:v>Night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561</c:v>
                </c:pt>
                <c:pt idx="1">
                  <c:v>2361</c:v>
                </c:pt>
                <c:pt idx="2">
                  <c:v>3086</c:v>
                </c:pt>
                <c:pt idx="3">
                  <c:v>2545</c:v>
                </c:pt>
                <c:pt idx="4">
                  <c:v>1447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206-425A-AD8C-6A3A99721DC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9616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E75-4F8E-8641-DA7FDDC8B1B8}"/>
              </c:ext>
            </c:extLst>
          </c:dPt>
          <c:dPt>
            <c:idx val="1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E75-4F8E-8641-DA7FDDC8B1B8}"/>
              </c:ext>
            </c:extLst>
          </c:dPt>
          <c:dPt>
            <c:idx val="2"/>
            <c:bubble3D val="0"/>
            <c:spPr>
              <a:solidFill>
                <a:srgbClr val="F9E79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E75-4F8E-8641-DA7FDDC8B1B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E75-4F8E-8641-DA7FDDC8B1B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E75-4F8E-8641-DA7FDDC8B1B8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E75-4F8E-8641-DA7FDDC8B1B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male</c:v>
                </c:pt>
                <c:pt idx="1">
                  <c:v>female</c:v>
                </c:pt>
                <c:pt idx="2">
                  <c:v>Unknown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8761</c:v>
                </c:pt>
                <c:pt idx="1">
                  <c:v>977</c:v>
                </c:pt>
                <c:pt idx="2">
                  <c:v>262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E75-4F8E-8641-DA7FDDC8B1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Viewers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Young</c:v>
                </c:pt>
                <c:pt idx="1">
                  <c:v>Adults</c:v>
                </c:pt>
                <c:pt idx="2">
                  <c:v>Under 18</c:v>
                </c:pt>
                <c:pt idx="3">
                  <c:v>Unspecified</c:v>
                </c:pt>
                <c:pt idx="4">
                  <c:v>Old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5989</c:v>
                </c:pt>
                <c:pt idx="1">
                  <c:v>3387</c:v>
                </c:pt>
                <c:pt idx="2">
                  <c:v>279</c:v>
                </c:pt>
                <c:pt idx="3">
                  <c:v>260</c:v>
                </c:pt>
                <c:pt idx="4">
                  <c:v>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F78-4F21-A8CC-F0986FA9191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Viewers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black</c:v>
                </c:pt>
                <c:pt idx="1">
                  <c:v>coloured</c:v>
                </c:pt>
                <c:pt idx="2">
                  <c:v>indian_asian</c:v>
                </c:pt>
                <c:pt idx="3">
                  <c:v>white</c:v>
                </c:pt>
                <c:pt idx="4">
                  <c:v>No Classification</c:v>
                </c:pt>
                <c:pt idx="5">
                  <c:v>other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4331</c:v>
                </c:pt>
                <c:pt idx="1">
                  <c:v>1633</c:v>
                </c:pt>
                <c:pt idx="2">
                  <c:v>1575</c:v>
                </c:pt>
                <c:pt idx="3">
                  <c:v>1292</c:v>
                </c:pt>
                <c:pt idx="4">
                  <c:v>1057</c:v>
                </c:pt>
                <c:pt idx="5">
                  <c:v>102</c:v>
                </c:pt>
                <c:pt idx="6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9A-46A7-98FC-82128C8FF73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Viewers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Gauteng</c:v>
                </c:pt>
                <c:pt idx="1">
                  <c:v>Western Cape</c:v>
                </c:pt>
                <c:pt idx="2">
                  <c:v>Kwazulu Natal</c:v>
                </c:pt>
                <c:pt idx="3">
                  <c:v>Mpumalanga</c:v>
                </c:pt>
                <c:pt idx="4">
                  <c:v>Limpopo</c:v>
                </c:pt>
                <c:pt idx="5">
                  <c:v>Eastern Cape</c:v>
                </c:pt>
                <c:pt idx="6">
                  <c:v>North West</c:v>
                </c:pt>
                <c:pt idx="7">
                  <c:v>Free State</c:v>
                </c:pt>
                <c:pt idx="8">
                  <c:v>No Classification</c:v>
                </c:pt>
                <c:pt idx="9">
                  <c:v>Northern Cape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3654</c:v>
                </c:pt>
                <c:pt idx="1">
                  <c:v>1845</c:v>
                </c:pt>
                <c:pt idx="2">
                  <c:v>1001</c:v>
                </c:pt>
                <c:pt idx="3">
                  <c:v>918</c:v>
                </c:pt>
                <c:pt idx="4">
                  <c:v>763</c:v>
                </c:pt>
                <c:pt idx="5">
                  <c:v>690</c:v>
                </c:pt>
                <c:pt idx="6">
                  <c:v>344</c:v>
                </c:pt>
                <c:pt idx="7">
                  <c:v>292</c:v>
                </c:pt>
                <c:pt idx="8">
                  <c:v>263</c:v>
                </c:pt>
                <c:pt idx="9">
                  <c:v>230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461-463F-A522-2EADB6250671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6942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4tZMXj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8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Audience Analysis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Who's watching, when, and where.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3657600"/>
            <a:ext cx="8686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look at 10,000 viewing events across 21 channels in Q1 2016, broken down by demographics, time, and geography — with an interactive companion dashboard.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5394960"/>
            <a:ext cx="548640" cy="36576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822960" y="5532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 Insights  ·  Q1 2016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  ·  Q1 2016 AUDIENCE INSIGHTS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091672" y="656539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54864" cy="11887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822960" y="13716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10,000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Viewers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18872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Shape 8"/>
          <p:cNvSpPr/>
          <p:nvPr/>
        </p:nvSpPr>
        <p:spPr>
          <a:xfrm>
            <a:off x="3520440" y="1371600"/>
            <a:ext cx="54864" cy="11887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3703320" y="13716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9,995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703320" y="2194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Sessions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18872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Shape 12"/>
          <p:cNvSpPr/>
          <p:nvPr/>
        </p:nvSpPr>
        <p:spPr>
          <a:xfrm>
            <a:off x="6400800" y="1371600"/>
            <a:ext cx="54864" cy="11887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6583680" y="13716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583680" y="2194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Tracked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98280" y="118872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Shape 16"/>
          <p:cNvSpPr/>
          <p:nvPr/>
        </p:nvSpPr>
        <p:spPr>
          <a:xfrm>
            <a:off x="9281160" y="1371600"/>
            <a:ext cx="54864" cy="11887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9464040" y="13716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Supersport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464040" y="2194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Channel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017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57200" y="3566160"/>
            <a:ext cx="411480" cy="41148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/>
          <p:nvPr/>
        </p:nvSpPr>
        <p:spPr>
          <a:xfrm>
            <a:off x="457200" y="3566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5840" y="3520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Sport dominates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05840" y="38862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Supersport Live + ICC Cricket account for ~31% of all viewing — the largest content category by far.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3566160"/>
            <a:ext cx="411480" cy="41148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7" name="Text 25"/>
          <p:cNvSpPr/>
          <p:nvPr/>
        </p:nvSpPr>
        <p:spPr>
          <a:xfrm>
            <a:off x="6217920" y="3566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66560" y="3520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Male, young, urban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766560" y="38862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 male, 60% young (18-34), and Gauteng + Western Cape together drive 55% of viewership.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5029200"/>
            <a:ext cx="411480" cy="41148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1" name="Text 29"/>
          <p:cNvSpPr/>
          <p:nvPr/>
        </p:nvSpPr>
        <p:spPr>
          <a:xfrm>
            <a:off x="457200" y="5029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05840" y="4983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Afternoon peak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05840" y="53492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3.Afternoon (2,361 viewers) and 4.Evening (3,086) are the two prime windows for ad placement.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0" y="5029200"/>
            <a:ext cx="411480" cy="41148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5" name="Text 33"/>
          <p:cNvSpPr/>
          <p:nvPr/>
        </p:nvSpPr>
        <p:spPr>
          <a:xfrm>
            <a:off x="6217920" y="5029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766560" y="4983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 trajectory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766560" y="53492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Viewership grew 2.2× from January (2,199) to March (4,816) — strong Q1 momentum.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9" name="Text 37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  ·  Q1 2016 AUDIENCE INSIGHTS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091672" y="656539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Channels by Viewership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Sports and music programming dominate Bright TV's audience attention.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280160"/>
          <a:ext cx="758952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8229600" y="1280160"/>
            <a:ext cx="3520440" cy="5029200"/>
          </a:xfrm>
          <a:prstGeom prst="roundRect">
            <a:avLst>
              <a:gd name="adj" fmla="val 259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" name="Text 5"/>
          <p:cNvSpPr/>
          <p:nvPr/>
        </p:nvSpPr>
        <p:spPr>
          <a:xfrm>
            <a:off x="8412480" y="1463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STORY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412480" y="182880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Sport rules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screen.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8412480" y="32918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31%</a:t>
            </a:r>
            <a:endParaRPr lang="en-US" sz="5600" dirty="0"/>
          </a:p>
        </p:txBody>
      </p:sp>
      <p:sp>
        <p:nvSpPr>
          <p:cNvPr id="11" name="Text 8"/>
          <p:cNvSpPr/>
          <p:nvPr/>
        </p:nvSpPr>
        <p:spPr>
          <a:xfrm>
            <a:off x="8412480" y="420624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viewing comes from Supersport Live Events and ICC Cricket alone — a clear concentration risk and opportunity for sports-led ad packages.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Text 10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  ·  Q1 2016 AUDIENCE INSIGHTS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091672" y="656539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Viewership Growth — Q1 2016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097280"/>
          <a:ext cx="7589520" cy="5212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229600" y="1097280"/>
            <a:ext cx="3520440" cy="2377440"/>
          </a:xfrm>
          <a:prstGeom prst="roundRect">
            <a:avLst>
              <a:gd name="adj" fmla="val 3846"/>
            </a:avLst>
          </a:prstGeom>
          <a:solidFill>
            <a:srgbClr val="F9616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" name="Text 4"/>
          <p:cNvSpPr/>
          <p:nvPr/>
        </p:nvSpPr>
        <p:spPr>
          <a:xfrm>
            <a:off x="8229600" y="128016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+119%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8229600" y="22860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→ Mar growth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0" y="269748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upward momentum suggests successful programming or marketing in February-March.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229600" y="3657600"/>
            <a:ext cx="3520440" cy="2651760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8"/>
          <p:cNvSpPr/>
          <p:nvPr/>
        </p:nvSpPr>
        <p:spPr>
          <a:xfrm>
            <a:off x="8412480" y="3794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412480" y="4114800"/>
            <a:ext cx="3200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Investigate what drove the March surge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Replicate winning programming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Lock in upfront ad commitments now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Monitor April carefully (only 5 in data)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" name="Text 11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  ·  Q1 2016 AUDIENCE INSIGHTS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091672" y="656539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Are People Watching?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097280"/>
          <a:ext cx="6858000" cy="5212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758952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Prime windows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589520" y="155448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3.Afternoon and 4.Evening together account for 56% of viewership — these are the windows where ad inventory commands the highest premium.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589520" y="3108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day of week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589520" y="3520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183880" y="3557016"/>
            <a:ext cx="1462822" cy="201168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" name="Text 8"/>
          <p:cNvSpPr/>
          <p:nvPr/>
        </p:nvSpPr>
        <p:spPr>
          <a:xfrm>
            <a:off x="9692422" y="3520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957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89520" y="39044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183880" y="3941064"/>
            <a:ext cx="2020742" cy="201168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" name="Text 11"/>
          <p:cNvSpPr/>
          <p:nvPr/>
        </p:nvSpPr>
        <p:spPr>
          <a:xfrm>
            <a:off x="10250342" y="39044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1,322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589520" y="428853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183880" y="4325112"/>
            <a:ext cx="2373837" cy="201168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7" name="Text 14"/>
          <p:cNvSpPr/>
          <p:nvPr/>
        </p:nvSpPr>
        <p:spPr>
          <a:xfrm>
            <a:off x="10603437" y="428853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1,553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89520" y="467258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183880" y="4709160"/>
            <a:ext cx="2202639" cy="201168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0" name="Text 17"/>
          <p:cNvSpPr/>
          <p:nvPr/>
        </p:nvSpPr>
        <p:spPr>
          <a:xfrm>
            <a:off x="10432239" y="467258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1,441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589520" y="505663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183880" y="5093208"/>
            <a:ext cx="2560320" cy="201168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3" name="Text 20"/>
          <p:cNvSpPr/>
          <p:nvPr/>
        </p:nvSpPr>
        <p:spPr>
          <a:xfrm>
            <a:off x="10789920" y="50566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1,675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589520" y="54406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8183880" y="5477256"/>
            <a:ext cx="2496121" cy="201168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6" name="Text 23"/>
          <p:cNvSpPr/>
          <p:nvPr/>
        </p:nvSpPr>
        <p:spPr>
          <a:xfrm>
            <a:off x="10725721" y="5440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1,633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589520" y="58247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8183880" y="5861304"/>
            <a:ext cx="2169011" cy="201168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9" name="Text 26"/>
          <p:cNvSpPr/>
          <p:nvPr/>
        </p:nvSpPr>
        <p:spPr>
          <a:xfrm>
            <a:off x="10398611" y="58247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1,419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1" name="Text 28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  ·  Q1 2016 AUDIENCE INSIGHTS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091672" y="656539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Is Watching? — Gender &amp; Age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Gender</a:t>
            </a:r>
            <a:endParaRPr lang="en-US" sz="1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371600"/>
          <a:ext cx="5486400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217920" y="1005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 Group</a:t>
            </a:r>
            <a:endParaRPr lang="en-US" sz="180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6035040" y="1371600"/>
          <a:ext cx="5943600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" name="Text 6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  ·  Q1 2016 AUDIENCE INSIGHTS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091672" y="656539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Race &amp; Geographic Distribution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Race</a:t>
            </a:r>
            <a:endParaRPr lang="en-US" sz="1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371600"/>
          <a:ext cx="5760720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309360" y="1005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Province</a:t>
            </a:r>
            <a:endParaRPr lang="en-US" sz="180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6126480" y="1371600"/>
          <a:ext cx="5852160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" name="Text 6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  ·  Q1 2016 AUDIENCE INSIGHTS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091672" y="656539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VIEWER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the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Bright TV viewer.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822960" y="320040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1A2942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45720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66160" y="320040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1A2942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3566160" y="33832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566160" y="45720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(18-34)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320040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1A2942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6309360" y="33832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43%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6309360" y="45720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audience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052560" y="320040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1A2942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9052560" y="33832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37%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9052560" y="45720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Gauteng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566928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 young, male, urban audience with strong appetite for live sport and music programming — concentrated in afternoon and evening prime time."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  ·  Q1 2016 AUDIENCE INSIGHTS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91672" y="656539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Recommendations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4864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73152" cy="160020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" name="Shape 5"/>
          <p:cNvSpPr/>
          <p:nvPr/>
        </p:nvSpPr>
        <p:spPr>
          <a:xfrm>
            <a:off x="731520" y="13258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73152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12801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Double down on sport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164592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drive 31% of viewing. Lock long-term rights, develop pre/post-show inventory, and create premium sports ad bundles for Q2 upfronts.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097280"/>
            <a:ext cx="54864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Shape 10"/>
          <p:cNvSpPr/>
          <p:nvPr/>
        </p:nvSpPr>
        <p:spPr>
          <a:xfrm>
            <a:off x="6217920" y="1097280"/>
            <a:ext cx="73152" cy="160020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Shape 11"/>
          <p:cNvSpPr/>
          <p:nvPr/>
        </p:nvSpPr>
        <p:spPr>
          <a:xfrm>
            <a:off x="6492240" y="13258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649224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86600" y="12801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Defend the prime windows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86600" y="164592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 + Evening = 56% of audience. Protect schedule integrity here and price ad inventory at a clear premium versus morning/night slots.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880360"/>
            <a:ext cx="54864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Shape 16"/>
          <p:cNvSpPr/>
          <p:nvPr/>
        </p:nvSpPr>
        <p:spPr>
          <a:xfrm>
            <a:off x="457200" y="2880360"/>
            <a:ext cx="73152" cy="160020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9" name="Shape 17"/>
          <p:cNvSpPr/>
          <p:nvPr/>
        </p:nvSpPr>
        <p:spPr>
          <a:xfrm>
            <a:off x="731520" y="3108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73152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5880" y="30632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Diversify the audience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342900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(10%), older (1%) and rural audiences are under-served. Test lifestyle, news, and family programming to broaden the base.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17920" y="2880360"/>
            <a:ext cx="54864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Shape 22"/>
          <p:cNvSpPr/>
          <p:nvPr/>
        </p:nvSpPr>
        <p:spPr>
          <a:xfrm>
            <a:off x="6217920" y="2880360"/>
            <a:ext cx="73152" cy="160020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5" name="Shape 23"/>
          <p:cNvSpPr/>
          <p:nvPr/>
        </p:nvSpPr>
        <p:spPr>
          <a:xfrm>
            <a:off x="6492240" y="3108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6" name="Text 24"/>
          <p:cNvSpPr/>
          <p:nvPr/>
        </p:nvSpPr>
        <p:spPr>
          <a:xfrm>
            <a:off x="649224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86600" y="30632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 in Gauteng + WC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86600" y="342900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 of viewership lives in two provinces. Localised marketing, hyperlocal sponsorships, and OOH tie-ins will compound returns.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4663440"/>
            <a:ext cx="54864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0" name="Shape 28"/>
          <p:cNvSpPr/>
          <p:nvPr/>
        </p:nvSpPr>
        <p:spPr>
          <a:xfrm>
            <a:off x="457200" y="4663440"/>
            <a:ext cx="73152" cy="160020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1" name="Shape 29"/>
          <p:cNvSpPr/>
          <p:nvPr/>
        </p:nvSpPr>
        <p:spPr>
          <a:xfrm>
            <a:off x="731520" y="48920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2" name="Text 30"/>
          <p:cNvSpPr/>
          <p:nvPr/>
        </p:nvSpPr>
        <p:spPr>
          <a:xfrm>
            <a:off x="731520" y="4892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325880" y="48463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content engine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325880" y="521208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March's 2.2× growth is the signal. Identify which shows drove it, formalise a hit-replication playbook, and instrument programming decisions with data.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17920" y="4663440"/>
            <a:ext cx="54864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6" name="Shape 34"/>
          <p:cNvSpPr/>
          <p:nvPr/>
        </p:nvSpPr>
        <p:spPr>
          <a:xfrm>
            <a:off x="6217920" y="4663440"/>
            <a:ext cx="73152" cy="160020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7" name="Shape 35"/>
          <p:cNvSpPr/>
          <p:nvPr/>
        </p:nvSpPr>
        <p:spPr>
          <a:xfrm>
            <a:off x="6492240" y="48920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8" name="Text 36"/>
          <p:cNvSpPr/>
          <p:nvPr/>
        </p:nvSpPr>
        <p:spPr>
          <a:xfrm>
            <a:off x="6492240" y="4892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086600" y="48463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 the dashboard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086600" y="521208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Operationalise this analysis with the live companion dashboard so commercial, programming, and marketing teams can self-serve weekly.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2" name="Text 40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  ·  Q1 2016 AUDIENCE INSIGHTS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091672" y="656539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LIVE DASHBOARD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10058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make it</a:t>
            </a:r>
            <a:endParaRPr lang="en-US" sz="6000" dirty="0"/>
          </a:p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gender, channel, time of day and province in real time.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interactive companion to this deck lives on the web.</a:t>
            </a:r>
            <a:endParaRPr lang="en-US" sz="1600" dirty="0"/>
          </a:p>
        </p:txBody>
      </p:sp>
      <p:sp>
        <p:nvSpPr>
          <p:cNvPr id="6" name="Shape 4">
            <a:hlinkClick r:id="rId3"/>
          </p:cNvPr>
          <p:cNvSpPr/>
          <p:nvPr/>
        </p:nvSpPr>
        <p:spPr>
          <a:xfrm>
            <a:off x="822960" y="4663440"/>
            <a:ext cx="4114800" cy="777240"/>
          </a:xfrm>
          <a:prstGeom prst="roundRect">
            <a:avLst>
              <a:gd name="adj" fmla="val 11765"/>
            </a:avLst>
          </a:prstGeom>
          <a:solidFill>
            <a:srgbClr val="F96167"/>
          </a:solidFill>
          <a:ln/>
        </p:spPr>
        <p:txBody>
          <a:bodyPr/>
          <a:lstStyle/>
          <a:p>
            <a:endParaRPr lang="en-ZA" dirty="0"/>
          </a:p>
        </p:txBody>
      </p:sp>
      <p:sp>
        <p:nvSpPr>
          <p:cNvPr id="7" name="Text 5"/>
          <p:cNvSpPr/>
          <p:nvPr/>
        </p:nvSpPr>
        <p:spPr>
          <a:xfrm>
            <a:off x="822960" y="466344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the Dashboard 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Bright TV Insights  ·  Q1 2016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  ·  Q1 2016 AUDIENCE INSIGHTS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091672" y="656539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737</Words>
  <Application>Microsoft Office PowerPoint</Application>
  <PresentationFormat>Widescreen</PresentationFormat>
  <Paragraphs>142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 TV — Audience Analysis</dc:title>
  <dc:subject>PptxGenJS Presentation</dc:subject>
  <dc:creator>Bright TV Insights</dc:creator>
  <cp:lastModifiedBy>David Matjiane</cp:lastModifiedBy>
  <cp:revision>2</cp:revision>
  <dcterms:created xsi:type="dcterms:W3CDTF">2026-04-21T08:21:22Z</dcterms:created>
  <dcterms:modified xsi:type="dcterms:W3CDTF">2026-04-21T09:38:53Z</dcterms:modified>
</cp:coreProperties>
</file>